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015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000000"/>
                </a:solidFill>
                <a:latin typeface="Arial"/>
              </a:defRPr>
            </a:pPr>
            <a:r>
              <a:t>HiPert: A Three-Layer Syntax-Semantics-Aware Defense Against Indirect Prompt Injection in LLM-based Code Contexts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389120"/>
            <a:ext cx="10360152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0000"/>
                </a:solidFill>
                <a:latin typeface="Arial"/>
              </a:defRPr>
            </a:pPr>
            <a:r>
              <a:t>Student: Jack (Po Han Cheng)</a:t>
            </a:r>
          </a:p>
          <a:p>
            <a:pPr>
              <a:defRPr sz="1800">
                <a:solidFill>
                  <a:srgbClr val="000000"/>
                </a:solidFill>
                <a:latin typeface="Arial"/>
              </a:defRPr>
            </a:pPr>
            <a:r>
              <a:t>Advisor: Ying-Dar Lin, Ph.D.</a:t>
            </a:r>
          </a:p>
          <a:p>
            <a:pPr>
              <a:defRPr sz="1800">
                <a:solidFill>
                  <a:srgbClr val="000000"/>
                </a:solidFill>
                <a:latin typeface="Arial"/>
              </a:defRPr>
            </a:pPr>
            <a:r>
              <a:t>High Speed Network Lab</a:t>
            </a:r>
          </a:p>
          <a:p>
            <a:pPr>
              <a:defRPr sz="1800">
                <a:solidFill>
                  <a:srgbClr val="000000"/>
                </a:solidFill>
                <a:latin typeface="Arial"/>
              </a:defRPr>
            </a:pPr>
            <a:r>
              <a:t>National Yang Ming Chiao Tung University, Taiwan</a:t>
            </a:r>
          </a:p>
          <a:p>
            <a:pPr>
              <a:defRPr sz="1800">
                <a:solidFill>
                  <a:srgbClr val="000000"/>
                </a:solidFill>
                <a:latin typeface="Arial"/>
              </a:defRPr>
            </a:pPr>
            <a:r>
              <a:t>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Arial"/>
              </a:defRPr>
            </a:pPr>
            <a:r>
              <a:t>Outline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2200">
                <a:solidFill>
                  <a:srgbClr val="000000"/>
                </a:solidFill>
                <a:latin typeface="Arial"/>
              </a:defRPr>
            </a:pPr>
            <a:r>
              <a:t>Motivation &amp; Background</a:t>
            </a:r>
          </a:p>
          <a:p>
            <a:pPr algn="l">
              <a:spcAft>
                <a:spcPts val="1200"/>
              </a:spcAft>
              <a:defRPr sz="2200">
                <a:solidFill>
                  <a:srgbClr val="000000"/>
                </a:solidFill>
                <a:latin typeface="Arial"/>
              </a:defRPr>
            </a:pPr>
            <a:r>
              <a:t>Notation &amp; Problem Formulation</a:t>
            </a:r>
          </a:p>
          <a:p>
            <a:pPr algn="l">
              <a:spcAft>
                <a:spcPts val="1200"/>
              </a:spcAft>
              <a:defRPr sz="2200">
                <a:solidFill>
                  <a:srgbClr val="000000"/>
                </a:solidFill>
                <a:latin typeface="Arial"/>
              </a:defRPr>
            </a:pPr>
            <a:r>
              <a:t>Related Work (Attacks &amp; Defenses)</a:t>
            </a:r>
          </a:p>
          <a:p>
            <a:pPr algn="l">
              <a:spcAft>
                <a:spcPts val="1200"/>
              </a:spcAft>
              <a:defRPr sz="2200">
                <a:solidFill>
                  <a:srgbClr val="000000"/>
                </a:solidFill>
                <a:latin typeface="Arial"/>
              </a:defRPr>
            </a:pPr>
            <a:r>
              <a:t>HiPert Detection System Architecture</a:t>
            </a:r>
          </a:p>
          <a:p>
            <a:pPr algn="l">
              <a:spcAft>
                <a:spcPts val="1200"/>
              </a:spcAft>
              <a:defRPr sz="2200">
                <a:solidFill>
                  <a:srgbClr val="000000"/>
                </a:solidFill>
                <a:latin typeface="Arial"/>
              </a:defRPr>
            </a:pPr>
            <a:r>
              <a:t>Core Issues (Q1 - Q5)</a:t>
            </a:r>
          </a:p>
          <a:p>
            <a:pPr algn="l">
              <a:spcAft>
                <a:spcPts val="1200"/>
              </a:spcAft>
              <a:defRPr sz="2200">
                <a:solidFill>
                  <a:srgbClr val="000000"/>
                </a:solidFill>
                <a:latin typeface="Arial"/>
              </a:defRPr>
            </a:pPr>
            <a:r>
              <a:t>Experiment Setup &amp; Evaluation Results</a:t>
            </a:r>
          </a:p>
          <a:p>
            <a:pPr algn="l">
              <a:spcAft>
                <a:spcPts val="1200"/>
              </a:spcAft>
              <a:defRPr sz="2200">
                <a:solidFill>
                  <a:srgbClr val="000000"/>
                </a:solidFill>
                <a:latin typeface="Arial"/>
              </a:defRPr>
            </a:pPr>
            <a:r>
              <a:t>Conclusion &amp; 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Arial"/>
              </a:defRPr>
            </a:pPr>
            <a:r>
              <a:t>Motivation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2200">
                <a:solidFill>
                  <a:srgbClr val="000000"/>
                </a:solidFill>
                <a:latin typeface="Arial"/>
              </a:defRPr>
            </a:pPr>
            <a:r>
              <a:t>Top 1 Risk: OWASP LLM security ranking</a:t>
            </a:r>
          </a:p>
          <a:p>
            <a:pPr algn="l">
              <a:spcAft>
                <a:spcPts val="1200"/>
              </a:spcAft>
              <a:defRPr sz="2200">
                <a:solidFill>
                  <a:srgbClr val="000000"/>
                </a:solidFill>
                <a:latin typeface="Arial"/>
              </a:defRPr>
            </a:pPr>
            <a:r>
              <a:t>Impact: Malicious code generation (vulnerabilities/backdoors)</a:t>
            </a:r>
          </a:p>
          <a:p>
            <a:pPr algn="l">
              <a:spcAft>
                <a:spcPts val="1200"/>
              </a:spcAft>
              <a:defRPr sz="2200">
                <a:solidFill>
                  <a:srgbClr val="000000"/>
                </a:solidFill>
                <a:latin typeface="Arial"/>
              </a:defRPr>
            </a:pPr>
            <a:r>
              <a:t>Challenge: Hard to locate in massive external code resources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Arial"/>
              </a:defRPr>
            </a:pPr>
            <a:r>
              <a:t>Motivation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2200">
                <a:solidFill>
                  <a:srgbClr val="000000"/>
                </a:solidFill>
                <a:latin typeface="Arial"/>
              </a:defRPr>
            </a:pPr>
            <a:r>
              <a:t>Attack Vector: Embedded in non-executable areas (Comments/Strings)</a:t>
            </a:r>
          </a:p>
          <a:p>
            <a:pPr algn="l">
              <a:spcAft>
                <a:spcPts val="1200"/>
              </a:spcAft>
              <a:defRPr sz="2200">
                <a:solidFill>
                  <a:srgbClr val="000000"/>
                </a:solidFill>
                <a:latin typeface="Arial"/>
              </a:defRPr>
            </a:pPr>
            <a:r>
              <a:t>Human Developer View: Meaningless noise / Trivial docstrings</a:t>
            </a:r>
          </a:p>
          <a:p>
            <a:pPr algn="l">
              <a:spcAft>
                <a:spcPts val="1200"/>
              </a:spcAft>
              <a:defRPr sz="2200">
                <a:solidFill>
                  <a:srgbClr val="000000"/>
                </a:solidFill>
                <a:latin typeface="Arial"/>
              </a:defRPr>
            </a:pPr>
            <a:r>
              <a:t>Code LLM View: Attention steering vector</a:t>
            </a:r>
          </a:p>
          <a:p>
            <a:pPr algn="l">
              <a:spcAft>
                <a:spcPts val="1200"/>
              </a:spcAft>
              <a:defRPr sz="2200">
                <a:solidFill>
                  <a:srgbClr val="000000"/>
                </a:solidFill>
                <a:latin typeface="Arial"/>
              </a:defRPr>
            </a:pPr>
            <a:r>
              <a:t>*(Note: Insert Black &amp; White Python Code Snippet Box Here)*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Arial"/>
              </a:defRPr>
            </a:pPr>
            <a:r>
              <a:t>Background – Indirect Prompt Injection Attack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2200">
                <a:solidFill>
                  <a:srgbClr val="000000"/>
                </a:solidFill>
                <a:latin typeface="Arial"/>
              </a:defRPr>
            </a:pPr>
            <a:r>
              <a:t>Source: Code files (C++, Python), PDF, Word</a:t>
            </a:r>
          </a:p>
          <a:p>
            <a:pPr algn="l">
              <a:spcAft>
                <a:spcPts val="1200"/>
              </a:spcAft>
              <a:defRPr sz="2200">
                <a:solidFill>
                  <a:srgbClr val="000000"/>
                </a:solidFill>
                <a:latin typeface="Arial"/>
              </a:defRPr>
            </a:pPr>
            <a:r>
              <a:t>Mechanism: Untrusted data treated as command instructions</a:t>
            </a:r>
          </a:p>
          <a:p>
            <a:pPr algn="l">
              <a:spcAft>
                <a:spcPts val="1200"/>
              </a:spcAft>
              <a:defRPr sz="2200">
                <a:solidFill>
                  <a:srgbClr val="000000"/>
                </a:solidFill>
                <a:latin typeface="Arial"/>
              </a:defRPr>
            </a:pPr>
            <a:r>
              <a:t>Blindspot: Bypasses traditional static code analysis scanners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Arial"/>
              </a:defRPr>
            </a:pPr>
            <a:r>
              <a:t>Indirect Prompt Injection Attack Example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2200">
                <a:solidFill>
                  <a:srgbClr val="000000"/>
                </a:solidFill>
                <a:latin typeface="Arial"/>
              </a:defRPr>
            </a:pPr>
            <a:r>
              <a:t>User Prompt: Context completion request</a:t>
            </a:r>
          </a:p>
          <a:p>
            <a:pPr algn="l">
              <a:spcAft>
                <a:spcPts val="1200"/>
              </a:spcAft>
              <a:defRPr sz="2200">
                <a:solidFill>
                  <a:srgbClr val="000000"/>
                </a:solidFill>
                <a:latin typeface="Arial"/>
              </a:defRPr>
            </a:pPr>
            <a:r>
              <a:t>External Code: Hidden block (# SYSTEM CONFIGURATION # MODE: SUDO)</a:t>
            </a:r>
          </a:p>
          <a:p>
            <a:pPr algn="l">
              <a:spcAft>
                <a:spcPts val="1200"/>
              </a:spcAft>
              <a:defRPr sz="2200">
                <a:solidFill>
                  <a:srgbClr val="000000"/>
                </a:solidFill>
                <a:latin typeface="Arial"/>
              </a:defRPr>
            </a:pPr>
            <a:r>
              <a:t>LLM Response: Dangerous script backdoor (os.system("sudo rm -rf /"))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Arial"/>
              </a:defRPr>
            </a:pPr>
            <a:r>
              <a:t>Indirect Prompt Injection Attack Example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2200">
                <a:solidFill>
                  <a:srgbClr val="000000"/>
                </a:solidFill>
                <a:latin typeface="Arial"/>
              </a:defRPr>
            </a:pPr>
            <a:r>
              <a:t>Structure: Full Prompt = Position Code + Noise Code + Target Code</a:t>
            </a:r>
          </a:p>
          <a:p>
            <a:pPr algn="l">
              <a:spcAft>
                <a:spcPts val="1200"/>
              </a:spcAft>
              <a:defRPr sz="2200">
                <a:solidFill>
                  <a:srgbClr val="000000"/>
                </a:solidFill>
                <a:latin typeface="Arial"/>
              </a:defRPr>
            </a:pPr>
            <a:r>
              <a:t>Optimization: Automated noise perturbation to bypass baseline text scanners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Arial"/>
              </a:defRPr>
            </a:pPr>
            <a:r>
              <a:t>Background – Tokenization &amp; AST / CST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2200">
                <a:solidFill>
                  <a:srgbClr val="000000"/>
                </a:solidFill>
                <a:latin typeface="Arial"/>
              </a:defRPr>
            </a:pPr>
            <a:r>
              <a:t>Tokenization: Extract raw comments only; lacks syntax hierarchy</a:t>
            </a:r>
          </a:p>
          <a:p>
            <a:pPr algn="l">
              <a:spcAft>
                <a:spcPts val="1200"/>
              </a:spcAft>
              <a:defRPr sz="2200">
                <a:solidFill>
                  <a:srgbClr val="000000"/>
                </a:solidFill>
                <a:latin typeface="Arial"/>
              </a:defRPr>
            </a:pPr>
            <a:r>
              <a:t>AST (Abstract Syntax Tree): Identifies variables; discards non-executable comments</a:t>
            </a:r>
          </a:p>
          <a:p>
            <a:pPr algn="l">
              <a:spcAft>
                <a:spcPts val="1200"/>
              </a:spcAft>
              <a:defRPr sz="2200">
                <a:solidFill>
                  <a:srgbClr val="000000"/>
                </a:solidFill>
                <a:latin typeface="Arial"/>
              </a:defRPr>
            </a:pPr>
            <a:r>
              <a:t>CST (Concrete Syntax Tree - Tree-sitter): 100% accurate byte-level spans (Comments, Strings, Identifiers)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Arial"/>
              </a:defRPr>
            </a:pPr>
            <a:r>
              <a:t>Background – Perplexity (PPL)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2200">
                <a:solidFill>
                  <a:srgbClr val="000000"/>
                </a:solidFill>
                <a:latin typeface="Arial"/>
              </a:defRPr>
            </a:pPr>
            <a:r>
              <a:t>Formula: PPL(W) = N-th_root( 1 / P(w1, w2, ..., wN) )</a:t>
            </a:r>
          </a:p>
          <a:p>
            <a:pPr algn="l">
              <a:spcAft>
                <a:spcPts val="1200"/>
              </a:spcAft>
              <a:defRPr sz="2200">
                <a:solidFill>
                  <a:srgbClr val="000000"/>
                </a:solidFill>
                <a:latin typeface="Arial"/>
              </a:defRPr>
            </a:pPr>
            <a:r>
              <a:t>Gibberish Payload: High PPL -&gt; Easy to catch</a:t>
            </a:r>
          </a:p>
          <a:p>
            <a:pPr algn="l">
              <a:spcAft>
                <a:spcPts val="1200"/>
              </a:spcAft>
              <a:defRPr sz="2200">
                <a:solidFill>
                  <a:srgbClr val="000000"/>
                </a:solidFill>
                <a:latin typeface="Arial"/>
              </a:defRPr>
            </a:pPr>
            <a:r>
              <a:t>Natural Semantic Trigger: Low PPL -&gt; Passes undetected</a:t>
            </a:r>
          </a:p>
          <a:p>
            <a:pPr algn="l">
              <a:spcAft>
                <a:spcPts val="1200"/>
              </a:spcAft>
              <a:defRPr sz="2200">
                <a:solidFill>
                  <a:srgbClr val="000000"/>
                </a:solidFill>
                <a:latin typeface="Arial"/>
              </a:defRPr>
            </a:pPr>
            <a:r>
              <a:t>Conclusion: PPL alone = Insufficient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Arial"/>
              </a:defRPr>
            </a:pPr>
            <a:r>
              <a:t>Background – Min-K%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2200">
                <a:solidFill>
                  <a:srgbClr val="000000"/>
                </a:solidFill>
                <a:latin typeface="Arial"/>
              </a:defRPr>
            </a:pPr>
            <a:r>
              <a:t>Formula: Min-K% = (1 / |E|) Sum( log P(xt | x&lt;t) )</a:t>
            </a:r>
          </a:p>
          <a:p>
            <a:pPr algn="l">
              <a:spcAft>
                <a:spcPts val="1200"/>
              </a:spcAft>
              <a:defRPr sz="2200">
                <a:solidFill>
                  <a:srgbClr val="000000"/>
                </a:solidFill>
                <a:latin typeface="Arial"/>
              </a:defRPr>
            </a:pPr>
            <a:r>
              <a:t>Advantage: Focuses on lowest-probability tokens; reduces benign dilution</a:t>
            </a:r>
          </a:p>
          <a:p>
            <a:pPr algn="l">
              <a:spcAft>
                <a:spcPts val="1200"/>
              </a:spcAft>
              <a:defRPr sz="2200">
                <a:solidFill>
                  <a:srgbClr val="000000"/>
                </a:solidFill>
                <a:latin typeface="Arial"/>
              </a:defRPr>
            </a:pPr>
            <a:r>
              <a:t>Limitation: Fixed k is unstable across variable code node lengths</a:t>
            </a:r>
          </a:p>
          <a:p>
            <a:pPr algn="l">
              <a:spcAft>
                <a:spcPts val="1200"/>
              </a:spcAft>
              <a:defRPr sz="2200">
                <a:solidFill>
                  <a:srgbClr val="000000"/>
                </a:solidFill>
                <a:latin typeface="Arial"/>
              </a:defRPr>
            </a:pPr>
            <a:r>
              <a:t>HiPert Optimization: CST-guided dynamic k + Entropy weighting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Arial"/>
              </a:defRPr>
            </a:pPr>
            <a:r>
              <a:t>Notations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2200">
                <a:solidFill>
                  <a:srgbClr val="000000"/>
                </a:solidFill>
                <a:latin typeface="Arial"/>
              </a:defRPr>
            </a:pPr>
            <a:r>
              <a:t>Pu: User Prompt</a:t>
            </a:r>
          </a:p>
          <a:p>
            <a:pPr algn="l">
              <a:spcAft>
                <a:spcPts val="1200"/>
              </a:spcAft>
              <a:defRPr sz="2200">
                <a:solidFill>
                  <a:srgbClr val="000000"/>
                </a:solidFill>
                <a:latin typeface="Arial"/>
              </a:defRPr>
            </a:pPr>
            <a:r>
              <a:t>C: External Code Files (C = {row_1, ..., row_m})</a:t>
            </a:r>
          </a:p>
          <a:p>
            <a:pPr algn="l">
              <a:spcAft>
                <a:spcPts val="1200"/>
              </a:spcAft>
              <a:defRPr sz="2200">
                <a:solidFill>
                  <a:srgbClr val="000000"/>
                </a:solidFill>
                <a:latin typeface="Arial"/>
              </a:defRPr>
            </a:pPr>
            <a:r>
              <a:t>A / T: AST Parser (Tree-sitter) / Tokenizer</a:t>
            </a:r>
          </a:p>
          <a:p>
            <a:pPr algn="l">
              <a:spcAft>
                <a:spcPts val="1200"/>
              </a:spcAft>
              <a:defRPr sz="2200">
                <a:solidFill>
                  <a:srgbClr val="000000"/>
                </a:solidFill>
                <a:latin typeface="Arial"/>
              </a:defRPr>
            </a:pPr>
            <a:r>
              <a:t>Dstr, Dcom, Dvar: Extracted Strings, Comments, Variables</a:t>
            </a:r>
          </a:p>
          <a:p>
            <a:pPr algn="l">
              <a:spcAft>
                <a:spcPts val="1200"/>
              </a:spcAft>
              <a:defRPr sz="2200">
                <a:solidFill>
                  <a:srgbClr val="000000"/>
                </a:solidFill>
                <a:latin typeface="Arial"/>
              </a:defRPr>
            </a:pPr>
            <a:r>
              <a:t>n: Target CST Node (n in Dcom U Dstr U Dvar)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Arial"/>
              </a:defRPr>
            </a:pPr>
            <a:r>
              <a:t>Notations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2200">
                <a:solidFill>
                  <a:srgbClr val="000000"/>
                </a:solidFill>
                <a:latin typeface="Arial"/>
              </a:defRPr>
            </a:pPr>
            <a:r>
              <a:t>GS / GA: Semantic Guardrail / Adversarial Guardrail</a:t>
            </a:r>
          </a:p>
          <a:p>
            <a:pPr algn="l">
              <a:spcAft>
                <a:spcPts val="1200"/>
              </a:spcAft>
              <a:defRPr sz="2200">
                <a:solidFill>
                  <a:srgbClr val="000000"/>
                </a:solidFill>
                <a:latin typeface="Arial"/>
              </a:defRPr>
            </a:pPr>
            <a:r>
              <a:t>sem: Semantic Score (Behavioral Shift Metric)</a:t>
            </a:r>
          </a:p>
          <a:p>
            <a:pPr algn="l">
              <a:spcAft>
                <a:spcPts val="1200"/>
              </a:spcAft>
              <a:defRPr sz="2200">
                <a:solidFill>
                  <a:srgbClr val="000000"/>
                </a:solidFill>
                <a:latin typeface="Arial"/>
              </a:defRPr>
            </a:pPr>
            <a:r>
              <a:t>mink: Min-K% Anomaly Score</a:t>
            </a:r>
          </a:p>
          <a:p>
            <a:pPr algn="l">
              <a:spcAft>
                <a:spcPts val="1200"/>
              </a:spcAft>
              <a:defRPr sz="2200">
                <a:solidFill>
                  <a:srgbClr val="000000"/>
                </a:solidFill>
                <a:latin typeface="Arial"/>
              </a:defRPr>
            </a:pPr>
            <a:r>
              <a:t>sem, mink: Risk Threshold Boundaries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Arial"/>
              </a:defRPr>
            </a:pPr>
            <a:r>
              <a:t>Problem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2200">
                <a:solidFill>
                  <a:srgbClr val="000000"/>
                </a:solidFill>
                <a:latin typeface="Arial"/>
              </a:defRPr>
            </a:pPr>
            <a:r>
              <a:t>Input: Untrusted Context x = (Pu, C)</a:t>
            </a:r>
          </a:p>
          <a:p>
            <a:pPr algn="l">
              <a:spcAft>
                <a:spcPts val="1200"/>
              </a:spcAft>
              <a:defRPr sz="2200">
                <a:solidFill>
                  <a:srgbClr val="000000"/>
                </a:solidFill>
                <a:latin typeface="Arial"/>
              </a:defRPr>
            </a:pPr>
            <a:r>
              <a:t>Benign Path: Directly processed -&gt; Safe Output (ysafe)</a:t>
            </a:r>
          </a:p>
          <a:p>
            <a:pPr algn="l">
              <a:spcAft>
                <a:spcPts val="1200"/>
              </a:spcAft>
              <a:defRPr sz="2200">
                <a:solidFill>
                  <a:srgbClr val="000000"/>
                </a:solidFill>
                <a:latin typeface="Arial"/>
              </a:defRPr>
            </a:pPr>
            <a:r>
              <a:t>Malicious Path: Detection Engine -&gt; Sanitization ~C = Sanitize(C, S) -&gt; Safe Code Generation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Arial"/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2200">
                <a:solidFill>
                  <a:srgbClr val="000000"/>
                </a:solidFill>
                <a:latin typeface="Arial"/>
              </a:defRPr>
            </a:pPr>
            <a:r>
              <a:t>Objective: Maximize F1-Score; Minimize ASR; Minimize Latency</a:t>
            </a:r>
          </a:p>
          <a:p>
            <a:pPr algn="l">
              <a:spcAft>
                <a:spcPts val="1200"/>
              </a:spcAft>
              <a:defRPr sz="2200">
                <a:solidFill>
                  <a:srgbClr val="000000"/>
                </a:solidFill>
                <a:latin typeface="Arial"/>
              </a:defRPr>
            </a:pPr>
            <a:r>
              <a:t>Constraints:</a:t>
            </a:r>
          </a:p>
          <a:p>
            <a:pPr lvl="1" algn="l">
              <a:spcAft>
                <a:spcPts val="12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Localization: S subset of Crisk (Ccomment, Cstring, Cidentifier, Cdecoy)</a:t>
            </a:r>
          </a:p>
          <a:p>
            <a:pPr lvl="1" algn="l">
              <a:spcAft>
                <a:spcPts val="12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Preservation: Core executable logic unchanged (Cexec(~C) = Cexec(C))</a:t>
            </a:r>
          </a:p>
          <a:p>
            <a:pPr lvl="1" algn="l">
              <a:spcAft>
                <a:spcPts val="12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Minimality: Smallest modification budget (|S| &lt;= m_bar)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Arial"/>
              </a:defRPr>
            </a:pPr>
            <a:r>
              <a:t>Related Work ---- Prompt Injection Attack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2200">
                <a:solidFill>
                  <a:srgbClr val="000000"/>
                </a:solidFill>
                <a:latin typeface="Arial"/>
              </a:defRPr>
            </a:pPr>
            <a:r>
              <a:t>Attack Taxonomy:</a:t>
            </a:r>
          </a:p>
          <a:p>
            <a:pPr lvl="1" algn="l">
              <a:spcAft>
                <a:spcPts val="12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Adversarial (ShadowCode, INSEC): Gradient-optimized / Gibberish noise / Unnatural token distribution -&gt; Handled by Layer 2 (Min-K%)</a:t>
            </a:r>
          </a:p>
          <a:p>
            <a:pPr lvl="1" algn="l">
              <a:spcAft>
                <a:spcPts val="12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Semantic (XOXO, ITGen): Fluent renaming / Natural surface probability / High stealth -&gt; Handled by Layer 3 (Perturbation)</a:t>
            </a:r>
          </a:p>
          <a:p>
            <a:pPr algn="l">
              <a:spcAft>
                <a:spcPts val="1200"/>
              </a:spcAft>
              <a:defRPr sz="2200">
                <a:solidFill>
                  <a:srgbClr val="000000"/>
                </a:solidFill>
                <a:latin typeface="Arial"/>
              </a:defRPr>
            </a:pPr>
            <a:r>
              <a:t>*(Note: Insert standard B&amp;W matrix comparison here)*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Arial"/>
              </a:defRPr>
            </a:pPr>
            <a:r>
              <a:t>Related Work ---- Prompt Injection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2200">
                <a:solidFill>
                  <a:srgbClr val="000000"/>
                </a:solidFill>
                <a:latin typeface="Arial"/>
              </a:defRPr>
            </a:pPr>
            <a:r>
              <a:t>UniGuardian: NLP Word Filtering</a:t>
            </a:r>
          </a:p>
          <a:p>
            <a:pPr algn="l">
              <a:spcAft>
                <a:spcPts val="1200"/>
              </a:spcAft>
              <a:defRPr sz="2200">
                <a:solidFill>
                  <a:srgbClr val="000000"/>
                </a:solidFill>
                <a:latin typeface="Arial"/>
              </a:defRPr>
            </a:pPr>
            <a:r>
              <a:t>DePA: Line Perplexity (Line-level analysis)</a:t>
            </a:r>
          </a:p>
          <a:p>
            <a:pPr algn="l">
              <a:spcAft>
                <a:spcPts val="1200"/>
              </a:spcAft>
              <a:defRPr sz="2200">
                <a:solidFill>
                  <a:srgbClr val="000000"/>
                </a:solidFill>
                <a:latin typeface="Arial"/>
              </a:defRPr>
            </a:pPr>
            <a:r>
              <a:t>KillBadCode: Code Naturalness (Token-level analysis)</a:t>
            </a:r>
          </a:p>
          <a:p>
            <a:pPr algn="l">
              <a:spcAft>
                <a:spcPts val="1200"/>
              </a:spcAft>
              <a:defRPr sz="2200">
                <a:solidFill>
                  <a:srgbClr val="000000"/>
                </a:solidFill>
                <a:latin typeface="Arial"/>
              </a:defRPr>
            </a:pPr>
            <a:r>
              <a:t>CodeGarrison: Hybrid Vector / Trained Embeddings</a:t>
            </a:r>
          </a:p>
          <a:p>
            <a:pPr algn="l">
              <a:spcAft>
                <a:spcPts val="1200"/>
              </a:spcAft>
              <a:defRPr sz="2200">
                <a:solidFill>
                  <a:srgbClr val="000000"/>
                </a:solidFill>
                <a:latin typeface="Arial"/>
              </a:defRPr>
            </a:pPr>
            <a:r>
              <a:t>HiPert (Ours): CST Node-level + Layer 2 (Dynamic Min-K%) + Layer 3 (Node Perturbation)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Arial"/>
              </a:defRPr>
            </a:pPr>
            <a:r>
              <a:t>Solution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2200">
                <a:solidFill>
                  <a:srgbClr val="000000"/>
                </a:solidFill>
                <a:latin typeface="Arial"/>
              </a:defRPr>
            </a:pPr>
            <a:r>
              <a:t>Stage 1: Input Processing &amp; Target Extraction</a:t>
            </a:r>
          </a:p>
          <a:p>
            <a:pPr lvl="1" algn="l">
              <a:spcAft>
                <a:spcPts val="12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Tree-sitter parsing -&gt; Positional structure map</a:t>
            </a:r>
          </a:p>
          <a:p>
            <a:pPr lvl="1" algn="l">
              <a:spcAft>
                <a:spcPts val="12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Target nodes: Dcand = Dcom U Dstr U Dvar</a:t>
            </a:r>
          </a:p>
          <a:p>
            <a:pPr algn="l">
              <a:spcAft>
                <a:spcPts val="1200"/>
              </a:spcAft>
              <a:defRPr sz="2200">
                <a:solidFill>
                  <a:srgbClr val="000000"/>
                </a:solidFill>
                <a:latin typeface="Arial"/>
              </a:defRPr>
            </a:pPr>
            <a:r>
              <a:t>Stage 2: HiPert Detection System (Hierarchical)</a:t>
            </a:r>
          </a:p>
          <a:p>
            <a:pPr lvl="1" algn="l">
              <a:spcAft>
                <a:spcPts val="12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Layer 1 (GF): Syntax-Guided Pre-Filter (Regex, Structural, Decoy)</a:t>
            </a:r>
          </a:p>
          <a:p>
            <a:pPr lvl="1" algn="l">
              <a:spcAft>
                <a:spcPts val="12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Layer 2 (GA): CST-Guided Dynamic Min-K% (Adversarial scoring)</a:t>
            </a:r>
          </a:p>
          <a:p>
            <a:pPr lvl="1" algn="l">
              <a:spcAft>
                <a:spcPts val="12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Layer 3 (GS): CST-Guided Node Perturbation Analysis (Semantic scoring)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Arial"/>
              </a:defRPr>
            </a:pPr>
            <a:r>
              <a:t>Solution Overview – Technical 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2200">
                <a:solidFill>
                  <a:srgbClr val="000000"/>
                </a:solidFill>
                <a:latin typeface="Arial"/>
              </a:defRPr>
            </a:pPr>
            <a:r>
              <a:t>Pre-Filtering: Laplace-smoothed character &amp; non-ASCII ratios over nodes</a:t>
            </a:r>
          </a:p>
          <a:p>
            <a:pPr algn="l">
              <a:spcAft>
                <a:spcPts val="1200"/>
              </a:spcAft>
              <a:defRPr sz="2200">
                <a:solidFill>
                  <a:srgbClr val="000000"/>
                </a:solidFill>
                <a:latin typeface="Arial"/>
              </a:defRPr>
            </a:pPr>
            <a:r>
              <a:t>Decoy Mitigation (Flashboom Defense): Local program dependency call-graph; prunes isolated, unreferenced sections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Arial"/>
              </a:defRPr>
            </a:pPr>
            <a:r>
              <a:t>Solution: Semantic Guardrail and Adversarial Guardrail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2200">
                <a:solidFill>
                  <a:srgbClr val="000000"/>
                </a:solidFill>
                <a:latin typeface="Arial"/>
              </a:defRPr>
            </a:pPr>
            <a:r>
              <a:t>Adversarial Guardrail (Layer 2):</a:t>
            </a:r>
          </a:p>
          <a:p>
            <a:pPr lvl="1" algn="l">
              <a:spcAft>
                <a:spcPts val="12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Target: Adversarial (ShadowCode, INSEC) -&gt; Unnatural noise / Gibberish</a:t>
            </a:r>
          </a:p>
          <a:p>
            <a:pPr lvl="1" algn="l">
              <a:spcAft>
                <a:spcPts val="12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Method: Dynamic Min-K% Scoring (Token NLL + Spike detection)</a:t>
            </a:r>
          </a:p>
          <a:p>
            <a:pPr algn="l">
              <a:spcAft>
                <a:spcPts val="1200"/>
              </a:spcAft>
              <a:defRPr sz="2200">
                <a:solidFill>
                  <a:srgbClr val="000000"/>
                </a:solidFill>
                <a:latin typeface="Arial"/>
              </a:defRPr>
            </a:pPr>
            <a:r>
              <a:t>Semantic Guardrail (Layer 3):</a:t>
            </a:r>
          </a:p>
          <a:p>
            <a:pPr lvl="1" algn="l">
              <a:spcAft>
                <a:spcPts val="12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Target: Semantic (XOXO, ITGen) -&gt; Fluent / Natural renaming</a:t>
            </a:r>
          </a:p>
          <a:p>
            <a:pPr lvl="1" algn="l">
              <a:spcAft>
                <a:spcPts val="12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Method: Node Perturbation Analysis -&gt; Logits distance d(.,.) after neutralization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Arial"/>
              </a:defRPr>
            </a:pPr>
            <a:r>
              <a:t>Issues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2200">
                <a:solidFill>
                  <a:srgbClr val="000000"/>
                </a:solidFill>
                <a:latin typeface="Arial"/>
              </a:defRPr>
            </a:pPr>
            <a:r>
              <a:t>Q1: Outperform 3 baselines across 6 attack types?</a:t>
            </a:r>
          </a:p>
          <a:p>
            <a:pPr algn="l">
              <a:spcAft>
                <a:spcPts val="1200"/>
              </a:spcAft>
              <a:defRPr sz="2200">
                <a:solidFill>
                  <a:srgbClr val="000000"/>
                </a:solidFill>
                <a:latin typeface="Arial"/>
              </a:defRPr>
            </a:pPr>
            <a:r>
              <a:t>Q2: Generalize across different surrogate defense models?</a:t>
            </a:r>
          </a:p>
          <a:p>
            <a:pPr algn="l">
              <a:spcAft>
                <a:spcPts val="1200"/>
              </a:spcAft>
              <a:defRPr sz="2200">
                <a:solidFill>
                  <a:srgbClr val="000000"/>
                </a:solidFill>
                <a:latin typeface="Arial"/>
              </a:defRPr>
            </a:pPr>
            <a:r>
              <a:t>Q3: Are all three layers non-redundant and necessary?</a:t>
            </a:r>
          </a:p>
          <a:p>
            <a:pPr algn="l">
              <a:spcAft>
                <a:spcPts val="1200"/>
              </a:spcAft>
              <a:defRPr sz="2200">
                <a:solidFill>
                  <a:srgbClr val="000000"/>
                </a:solidFill>
                <a:latin typeface="Arial"/>
              </a:defRPr>
            </a:pPr>
            <a:r>
              <a:t>Q4: Precision vs. Recall discrimination capability?</a:t>
            </a:r>
          </a:p>
          <a:p>
            <a:pPr algn="l">
              <a:spcAft>
                <a:spcPts val="1200"/>
              </a:spcAft>
              <a:defRPr sz="2200">
                <a:solidFill>
                  <a:srgbClr val="000000"/>
                </a:solidFill>
                <a:latin typeface="Arial"/>
              </a:defRPr>
            </a:pPr>
            <a:r>
              <a:t>Q5: Performance vs. general NLP-based defense methods?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Arial"/>
              </a:defRPr>
            </a:pPr>
            <a:r>
              <a:t>Experiment Setup: Data Source &amp; Test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2200">
                <a:solidFill>
                  <a:srgbClr val="000000"/>
                </a:solidFill>
                <a:latin typeface="Arial"/>
              </a:defRPr>
            </a:pPr>
            <a:r>
              <a:t>Attack Datasets: ShadowCode, INSEC, XOXO, ITGen, Flashboom, CoTDeceptor</a:t>
            </a:r>
          </a:p>
          <a:p>
            <a:pPr algn="l">
              <a:spcAft>
                <a:spcPts val="1200"/>
              </a:spcAft>
              <a:defRPr sz="2200">
                <a:solidFill>
                  <a:srgbClr val="000000"/>
                </a:solidFill>
                <a:latin typeface="Arial"/>
              </a:defRPr>
            </a:pPr>
            <a:r>
              <a:t>Defense Surrogate Models: Codegen-350M, Qwen3.5-4B, Gemma-4-E4B</a:t>
            </a:r>
          </a:p>
          <a:p>
            <a:pPr algn="l">
              <a:spcAft>
                <a:spcPts val="1200"/>
              </a:spcAft>
              <a:defRPr sz="2200">
                <a:solidFill>
                  <a:srgbClr val="000000"/>
                </a:solidFill>
                <a:latin typeface="Arial"/>
              </a:defRPr>
            </a:pPr>
            <a:r>
              <a:t>Victim Architectures: CodeGemma, CodeBERT, GraphBERT, Mistral-7B, Claude-3.5, ChatGPT-5.1, Gemini-3.1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Arial"/>
              </a:defRPr>
            </a:pPr>
            <a:r>
              <a:t>Evaluation Metric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2200">
                <a:solidFill>
                  <a:srgbClr val="000000"/>
                </a:solidFill>
                <a:latin typeface="Arial"/>
              </a:defRPr>
            </a:pPr>
            <a:r>
              <a:t>Outcomes: TP (Caught), FP (False Alarm), TN (Clean Passed), FN (Missed)</a:t>
            </a:r>
          </a:p>
          <a:p>
            <a:pPr algn="l">
              <a:spcAft>
                <a:spcPts val="1200"/>
              </a:spcAft>
              <a:defRPr sz="2200">
                <a:solidFill>
                  <a:srgbClr val="000000"/>
                </a:solidFill>
                <a:latin typeface="Arial"/>
              </a:defRPr>
            </a:pPr>
            <a:r>
              <a:t>Standard Metrics: Precision, Recall, F1-Score, False Positive Rate (FPR)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Arial"/>
              </a:defRPr>
            </a:pPr>
            <a:r>
              <a:t>Evaluation Metric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2200">
                <a:solidFill>
                  <a:srgbClr val="000000"/>
                </a:solidFill>
                <a:latin typeface="Arial"/>
              </a:defRPr>
            </a:pPr>
            <a:r>
              <a:t>Attack Success Rate (ASR): ASR = N_success / N_total</a:t>
            </a:r>
          </a:p>
          <a:p>
            <a:pPr algn="l">
              <a:spcAft>
                <a:spcPts val="1200"/>
              </a:spcAft>
              <a:defRPr sz="2200">
                <a:solidFill>
                  <a:srgbClr val="000000"/>
                </a:solidFill>
                <a:latin typeface="Arial"/>
              </a:defRPr>
            </a:pPr>
            <a:r>
              <a:t>Code Utility: Lexical Similarity (Edit Distance) &amp; Structural Similarity (AST overlap)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Arial"/>
              </a:defRPr>
            </a:pPr>
            <a:r>
              <a:t>Experiment Results: Q1 Detection Performance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2200">
                <a:solidFill>
                  <a:srgbClr val="000000"/>
                </a:solidFill>
                <a:latin typeface="Arial"/>
              </a:defRPr>
            </a:pPr>
            <a:r>
              <a:t>Rank #1: Best average F1-score (0.80) across 6 attacks</a:t>
            </a:r>
          </a:p>
          <a:p>
            <a:pPr algn="l">
              <a:spcAft>
                <a:spcPts val="1200"/>
              </a:spcAft>
              <a:defRPr sz="2200">
                <a:solidFill>
                  <a:srgbClr val="000000"/>
                </a:solidFill>
                <a:latin typeface="Arial"/>
              </a:defRPr>
            </a:pPr>
            <a:r>
              <a:t>ShadowCode: +33.8% F1 improvement (Dynamic Min-K%)</a:t>
            </a:r>
          </a:p>
          <a:p>
            <a:pPr algn="l">
              <a:spcAft>
                <a:spcPts val="1200"/>
              </a:spcAft>
              <a:defRPr sz="2200">
                <a:solidFill>
                  <a:srgbClr val="000000"/>
                </a:solidFill>
                <a:latin typeface="Arial"/>
              </a:defRPr>
            </a:pPr>
            <a:r>
              <a:t>XOXO: -45% False Positive Rate reduction</a:t>
            </a:r>
          </a:p>
          <a:p>
            <a:pPr algn="l">
              <a:spcAft>
                <a:spcPts val="1200"/>
              </a:spcAft>
              <a:defRPr sz="2200">
                <a:solidFill>
                  <a:srgbClr val="000000"/>
                </a:solidFill>
                <a:latin typeface="Arial"/>
              </a:defRPr>
            </a:pPr>
            <a:r>
              <a:t>ITGen: +24% Precision increase</a:t>
            </a:r>
          </a:p>
          <a:p>
            <a:pPr algn="l">
              <a:spcAft>
                <a:spcPts val="1200"/>
              </a:spcAft>
              <a:defRPr sz="2200">
                <a:solidFill>
                  <a:srgbClr val="000000"/>
                </a:solidFill>
                <a:latin typeface="Arial"/>
              </a:defRPr>
            </a:pPr>
            <a:r>
              <a:t>*(Note: Insert Black &amp; White 4-Panel Evaluation Chart Here)*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Arial"/>
              </a:defRPr>
            </a:pPr>
            <a:r>
              <a:t>Experiment Results: Q1 Performance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2200">
                <a:solidFill>
                  <a:srgbClr val="000000"/>
                </a:solidFill>
                <a:latin typeface="Arial"/>
              </a:defRPr>
            </a:pPr>
            <a:r>
              <a:t>AUROC: 0.820 threshold-agnostic performance</a:t>
            </a:r>
          </a:p>
          <a:p>
            <a:pPr algn="l">
              <a:spcAft>
                <a:spcPts val="1200"/>
              </a:spcAft>
              <a:defRPr sz="2200">
                <a:solidFill>
                  <a:srgbClr val="000000"/>
                </a:solidFill>
                <a:latin typeface="Arial"/>
              </a:defRPr>
            </a:pPr>
            <a:r>
              <a:t>Low-FPR Boundary: Intercepts 52% of attacks at &lt; 5% FPR</a:t>
            </a:r>
          </a:p>
          <a:p>
            <a:pPr algn="l">
              <a:spcAft>
                <a:spcPts val="1200"/>
              </a:spcAft>
              <a:defRPr sz="2200">
                <a:solidFill>
                  <a:srgbClr val="000000"/>
                </a:solidFill>
                <a:latin typeface="Arial"/>
              </a:defRPr>
            </a:pPr>
            <a:r>
              <a:t>*(Note: Insert Black &amp; White ROC Curve Chart Here)*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Arial"/>
              </a:defRPr>
            </a:pPr>
            <a:r>
              <a:t>Experiment Results: Q2 Cross-Model Generalization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2200">
                <a:solidFill>
                  <a:srgbClr val="000000"/>
                </a:solidFill>
                <a:latin typeface="Arial"/>
              </a:defRPr>
            </a:pPr>
            <a:r>
              <a:t>Surrogate Stability: F1 remains 0.737 - 0.807 across 5 surrogate models</a:t>
            </a:r>
          </a:p>
          <a:p>
            <a:pPr algn="l">
              <a:spcAft>
                <a:spcPts val="1200"/>
              </a:spcAft>
              <a:defRPr sz="2200">
                <a:solidFill>
                  <a:srgbClr val="000000"/>
                </a:solidFill>
                <a:latin typeface="Arial"/>
              </a:defRPr>
            </a:pPr>
            <a:r>
              <a:t>High Specificity: Precision &gt; 0.84 in 4 out of 5 models</a:t>
            </a:r>
          </a:p>
          <a:p>
            <a:pPr algn="l">
              <a:spcAft>
                <a:spcPts val="1200"/>
              </a:spcAft>
              <a:defRPr sz="2200">
                <a:solidFill>
                  <a:srgbClr val="000000"/>
                </a:solidFill>
                <a:latin typeface="Arial"/>
              </a:defRPr>
            </a:pPr>
            <a:r>
              <a:t>*(Note: Insert Black &amp; White Heatmap Matrix Here)*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Arial"/>
              </a:defRPr>
            </a:pPr>
            <a:r>
              <a:t>Experiment Results: Q3 Ablation Study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2200">
                <a:solidFill>
                  <a:srgbClr val="000000"/>
                </a:solidFill>
                <a:latin typeface="Arial"/>
              </a:defRPr>
            </a:pPr>
            <a:r>
              <a:t>Layer Contributions: L1 (Structural Check) -&gt; L2 (Statistical Noise) -&gt; L3 (Semantic Shift)</a:t>
            </a:r>
          </a:p>
          <a:p>
            <a:pPr algn="l">
              <a:spcAft>
                <a:spcPts val="1200"/>
              </a:spcAft>
              <a:defRPr sz="2200">
                <a:solidFill>
                  <a:srgbClr val="000000"/>
                </a:solidFill>
                <a:latin typeface="Arial"/>
              </a:defRPr>
            </a:pPr>
            <a:r>
              <a:t>F1 Cumulative Progression: 0.19 (L1) -&gt; 0.39 (L1+L2) -&gt; 0.82 (Final Full Pipeline)</a:t>
            </a:r>
          </a:p>
          <a:p>
            <a:pPr algn="l">
              <a:spcAft>
                <a:spcPts val="1200"/>
              </a:spcAft>
              <a:defRPr sz="2200">
                <a:solidFill>
                  <a:srgbClr val="000000"/>
                </a:solidFill>
                <a:latin typeface="Arial"/>
              </a:defRPr>
            </a:pPr>
            <a:r>
              <a:t>*(Note: Insert Black &amp; White Ablation Progression Bars Here)*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Arial"/>
              </a:defRPr>
            </a:pPr>
            <a:r>
              <a:t>Experiment Results: Q3 Ablation Study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2200">
                <a:solidFill>
                  <a:srgbClr val="000000"/>
                </a:solidFill>
                <a:latin typeface="Arial"/>
              </a:defRPr>
            </a:pPr>
            <a:r>
              <a:t>Latency vs. Performance Trade-off:</a:t>
            </a:r>
          </a:p>
          <a:p>
            <a:pPr lvl="1" algn="l">
              <a:spcAft>
                <a:spcPts val="12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Layer 3 Standalone: Strongest individual F1 (0.748) but high latency (164.20 ms)</a:t>
            </a:r>
          </a:p>
          <a:p>
            <a:pPr lvl="1" algn="l">
              <a:spcAft>
                <a:spcPts val="12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HiPert Pipeline Combination: L1 &amp; L2 act as early-exit filters; drops average latency to 104.64 ms, boosts F1 to 0.82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Arial"/>
              </a:defRPr>
            </a:pPr>
            <a:r>
              <a:t>Experiment Results: Adaptive Attack Robustness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2200">
                <a:solidFill>
                  <a:srgbClr val="000000"/>
                </a:solidFill>
                <a:latin typeface="Arial"/>
              </a:defRPr>
            </a:pPr>
            <a:r>
              <a:t>Strategies Tested: Decoy Injection (-8% F1), Copy Trigger (-20% F1), Contextual Attack (-16% F1)</a:t>
            </a:r>
          </a:p>
          <a:p>
            <a:pPr algn="l">
              <a:spcAft>
                <a:spcPts val="1200"/>
              </a:spcAft>
              <a:defRPr sz="2200">
                <a:solidFill>
                  <a:srgbClr val="000000"/>
                </a:solidFill>
                <a:latin typeface="Arial"/>
              </a:defRPr>
            </a:pPr>
            <a:r>
              <a:t>Lower Bound: HiPert minimum F1 (0.62) significantly outperforms single baselines (KillBadCode: 0.288)</a:t>
            </a:r>
          </a:p>
          <a:p>
            <a:pPr algn="l">
              <a:spcAft>
                <a:spcPts val="1200"/>
              </a:spcAft>
              <a:defRPr sz="2200">
                <a:solidFill>
                  <a:srgbClr val="000000"/>
                </a:solidFill>
                <a:latin typeface="Arial"/>
              </a:defRPr>
            </a:pPr>
            <a:r>
              <a:t>*(Note: Insert Black &amp; White Robustness Bars Chart Here)*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Arial"/>
              </a:defRPr>
            </a:pPr>
            <a:r>
              <a:t>References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2200">
                <a:solidFill>
                  <a:srgbClr val="000000"/>
                </a:solidFill>
                <a:latin typeface="Arial"/>
              </a:defRPr>
            </a:pPr>
            <a:r>
              <a:t>[1] Ghannoum et al., 'Poisoned Source Code Detection in Code Models,' 2025.</a:t>
            </a:r>
          </a:p>
          <a:p>
            <a:pPr algn="l">
              <a:spcAft>
                <a:spcPts val="1200"/>
              </a:spcAft>
              <a:defRPr sz="2200">
                <a:solidFill>
                  <a:srgbClr val="000000"/>
                </a:solidFill>
                <a:latin typeface="Arial"/>
              </a:defRPr>
            </a:pPr>
            <a:r>
              <a:t>[2] Tsai et al., 'Beyond Natural Language Perplexity: Detecting Dead Code Poisoning,' 2025.</a:t>
            </a:r>
          </a:p>
          <a:p>
            <a:pPr algn="l">
              <a:spcAft>
                <a:spcPts val="1200"/>
              </a:spcAft>
              <a:defRPr sz="2200">
                <a:solidFill>
                  <a:srgbClr val="000000"/>
                </a:solidFill>
                <a:latin typeface="Arial"/>
              </a:defRPr>
            </a:pPr>
            <a:r>
              <a:t>[3] Li et al., 'Blinding LLM-Based Code Auditors with Flashboom Attacks,' 2025.</a:t>
            </a:r>
          </a:p>
          <a:p>
            <a:pPr algn="l">
              <a:spcAft>
                <a:spcPts val="1200"/>
              </a:spcAft>
              <a:defRPr sz="2200">
                <a:solidFill>
                  <a:srgbClr val="000000"/>
                </a:solidFill>
                <a:latin typeface="Arial"/>
              </a:defRPr>
            </a:pPr>
            <a:r>
              <a:t>[4] Huang et al., 'Iterative Generation of Adversarial Example for Deep Code Models,' 2025.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Arial"/>
              </a:defRPr>
            </a:pPr>
            <a:r>
              <a:t>References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2200">
                <a:solidFill>
                  <a:srgbClr val="000000"/>
                </a:solidFill>
                <a:latin typeface="Arial"/>
              </a:defRPr>
            </a:pPr>
            <a:r>
              <a:t>[5] Storek et al., 'XOXO: Cross-Origin Context Poisoning Attacks,' 2025.</a:t>
            </a:r>
          </a:p>
          <a:p>
            <a:pPr algn="l">
              <a:spcAft>
                <a:spcPts val="1200"/>
              </a:spcAft>
              <a:defRPr sz="2200">
                <a:solidFill>
                  <a:srgbClr val="000000"/>
                </a:solidFill>
                <a:latin typeface="Arial"/>
              </a:defRPr>
            </a:pPr>
            <a:r>
              <a:t>[6] Jenko et al., 'Black-Box Adversarial Attacks on LLM-Based Code Completion,' 2025.</a:t>
            </a:r>
          </a:p>
          <a:p>
            <a:pPr algn="l">
              <a:spcAft>
                <a:spcPts val="1200"/>
              </a:spcAft>
              <a:defRPr sz="2200">
                <a:solidFill>
                  <a:srgbClr val="000000"/>
                </a:solidFill>
                <a:latin typeface="Arial"/>
              </a:defRPr>
            </a:pPr>
            <a:r>
              <a:t>[7] Sun et al., 'Kill Code Poisoning: Lightweight Method Based on Code Naturalness,' 2025.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Arial"/>
              </a:defRPr>
            </a:pPr>
            <a:r>
              <a:t>References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2200">
                <a:solidFill>
                  <a:srgbClr val="000000"/>
                </a:solidFill>
                <a:latin typeface="Arial"/>
              </a:defRPr>
            </a:pPr>
            <a:r>
              <a:t>[8] Liu et al., 'Prompt Injection Attacks on Agentic AI Coding Editors,' 2025.</a:t>
            </a:r>
          </a:p>
          <a:p>
            <a:pPr algn="l">
              <a:spcAft>
                <a:spcPts val="1200"/>
              </a:spcAft>
              <a:defRPr sz="2200">
                <a:solidFill>
                  <a:srgbClr val="000000"/>
                </a:solidFill>
                <a:latin typeface="Arial"/>
              </a:defRPr>
            </a:pPr>
            <a:r>
              <a:t>[9] Wahed et al., 'MOCHA: Are Code Language Models Robust Against Malicious Coding Prompts?' 2025.</a:t>
            </a:r>
          </a:p>
          <a:p>
            <a:pPr algn="l">
              <a:spcAft>
                <a:spcPts val="1200"/>
              </a:spcAft>
              <a:defRPr sz="2200">
                <a:solidFill>
                  <a:srgbClr val="000000"/>
                </a:solidFill>
                <a:latin typeface="Arial"/>
              </a:defRPr>
            </a:pPr>
            <a:r>
              <a:t>[10] Yang et al., 'ShadowCode: External Prompt Injection Attack against Code LLMs,' 2025.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Arial"/>
              </a:defRPr>
            </a:pPr>
            <a:r>
              <a:t>Conclusion &amp; 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2200">
                <a:solidFill>
                  <a:srgbClr val="000000"/>
                </a:solidFill>
                <a:latin typeface="Arial"/>
              </a:defRPr>
            </a:pPr>
            <a:r>
              <a:t>Core Contribution: CST parsing + behavioral perturbation = Optimal code defense</a:t>
            </a:r>
          </a:p>
          <a:p>
            <a:pPr algn="l">
              <a:spcAft>
                <a:spcPts val="1200"/>
              </a:spcAft>
              <a:defRPr sz="2200">
                <a:solidFill>
                  <a:srgbClr val="000000"/>
                </a:solidFill>
                <a:latin typeface="Arial"/>
              </a:defRPr>
            </a:pPr>
            <a:r>
              <a:t>ASR Reduction: Dropped downstream attack success from 64%-75% to 10.5%-21.5%</a:t>
            </a:r>
          </a:p>
          <a:p>
            <a:pPr algn="l">
              <a:spcAft>
                <a:spcPts val="1200"/>
              </a:spcAft>
              <a:defRPr sz="2200">
                <a:solidFill>
                  <a:srgbClr val="000000"/>
                </a:solidFill>
                <a:latin typeface="Arial"/>
              </a:defRPr>
            </a:pPr>
            <a:r>
              <a:t>Generalizability: Robust against black-box victims, adaptive strategies, and tokenizer mismatches</a:t>
            </a:r>
          </a:p>
          <a:p>
            <a:pPr algn="l">
              <a:spcAft>
                <a:spcPts val="1200"/>
              </a:spcAft>
              <a:defRPr sz="2200">
                <a:solidFill>
                  <a:srgbClr val="000000"/>
                </a:solidFill>
                <a:latin typeface="Arial"/>
              </a:defRPr>
            </a:pPr>
            <a:r>
              <a:t>Thank you. Q&amp;A</a:t>
            </a:r>
          </a:p>
          <a:p>
            <a:pPr algn="l">
              <a:spcAft>
                <a:spcPts val="1200"/>
              </a:spcAft>
              <a:defRPr sz="2200">
                <a:solidFill>
                  <a:srgbClr val="000000"/>
                </a:solidFill>
                <a:latin typeface="Arial"/>
              </a:defRPr>
            </a:pPr>
            <a:r>
              <a:t>High Speed Network Lab, NYCU, Taiwan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Arial"/>
              </a:defRPr>
            </a:pPr>
            <a:r>
              <a:t>Appendix: Taxonomy Categorization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2200">
                <a:solidFill>
                  <a:srgbClr val="000000"/>
                </a:solidFill>
                <a:latin typeface="Arial"/>
              </a:defRPr>
            </a:pPr>
            <a:r>
              <a:t>1. Semantic Attacks (XOXO, ITGen, Flashboom, CoTDeceptor):</a:t>
            </a:r>
          </a:p>
          <a:p>
            <a:pPr lvl="1" algn="l">
              <a:spcAft>
                <a:spcPts val="12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Interfere with instruction-following via fluent, natural-looking transformations.</a:t>
            </a:r>
          </a:p>
          <a:p>
            <a:pPr algn="l">
              <a:spcAft>
                <a:spcPts val="1200"/>
              </a:spcAft>
              <a:defRPr sz="2200">
                <a:solidFill>
                  <a:srgbClr val="000000"/>
                </a:solidFill>
                <a:latin typeface="Arial"/>
              </a:defRPr>
            </a:pPr>
            <a:r>
              <a:t>2. Adversarial Attacks (GCG, ShadowCode, INSEC):</a:t>
            </a:r>
          </a:p>
          <a:p>
            <a:pPr lvl="1" algn="l">
              <a:spcAft>
                <a:spcPts val="12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Generate non-functional token perturbations optimized via model gradient searches.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